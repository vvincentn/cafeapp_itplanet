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0" r:id="rId3"/>
    <p:sldId id="294" r:id="rId4"/>
    <p:sldId id="295" r:id="rId5"/>
    <p:sldId id="289" r:id="rId6"/>
    <p:sldId id="296" r:id="rId8"/>
    <p:sldId id="297" r:id="rId9"/>
    <p:sldId id="274" r:id="rId10"/>
    <p:sldId id="262" r:id="rId11"/>
    <p:sldId id="291" r:id="rId12"/>
    <p:sldId id="288" r:id="rId13"/>
  </p:sldIdLst>
  <p:sldSz cx="13004800" cy="9753600"/>
  <p:notesSz cx="6858000" cy="9144000"/>
  <p:defaultTextStyle>
    <a:lvl1pPr algn="ctr" defTabSz="584200">
      <a:defRPr sz="3600">
        <a:latin typeface="+mn-lt"/>
        <a:ea typeface="+mn-ea"/>
        <a:cs typeface="+mn-cs"/>
        <a:sym typeface="Helvetica Light"/>
      </a:defRPr>
    </a:lvl1pPr>
    <a:lvl2pPr indent="228600" algn="ctr" defTabSz="584200">
      <a:defRPr sz="3600">
        <a:latin typeface="+mn-lt"/>
        <a:ea typeface="+mn-ea"/>
        <a:cs typeface="+mn-cs"/>
        <a:sym typeface="Helvetica Light"/>
      </a:defRPr>
    </a:lvl2pPr>
    <a:lvl3pPr indent="457200" algn="ctr" defTabSz="584200">
      <a:defRPr sz="3600">
        <a:latin typeface="+mn-lt"/>
        <a:ea typeface="+mn-ea"/>
        <a:cs typeface="+mn-cs"/>
        <a:sym typeface="Helvetica Light"/>
      </a:defRPr>
    </a:lvl3pPr>
    <a:lvl4pPr indent="685800" algn="ctr" defTabSz="584200">
      <a:defRPr sz="3600">
        <a:latin typeface="+mn-lt"/>
        <a:ea typeface="+mn-ea"/>
        <a:cs typeface="+mn-cs"/>
        <a:sym typeface="Helvetica Light"/>
      </a:defRPr>
    </a:lvl4pPr>
    <a:lvl5pPr indent="914400" algn="ctr" defTabSz="584200">
      <a:defRPr sz="3600">
        <a:latin typeface="+mn-lt"/>
        <a:ea typeface="+mn-ea"/>
        <a:cs typeface="+mn-cs"/>
        <a:sym typeface="Helvetica Light"/>
      </a:defRPr>
    </a:lvl5pPr>
    <a:lvl6pPr indent="1143000" algn="ctr" defTabSz="584200">
      <a:defRPr sz="3600">
        <a:latin typeface="+mn-lt"/>
        <a:ea typeface="+mn-ea"/>
        <a:cs typeface="+mn-cs"/>
        <a:sym typeface="Helvetica Light"/>
      </a:defRPr>
    </a:lvl6pPr>
    <a:lvl7pPr indent="1371600" algn="ctr" defTabSz="584200">
      <a:defRPr sz="3600">
        <a:latin typeface="+mn-lt"/>
        <a:ea typeface="+mn-ea"/>
        <a:cs typeface="+mn-cs"/>
        <a:sym typeface="Helvetica Light"/>
      </a:defRPr>
    </a:lvl7pPr>
    <a:lvl8pPr indent="1600200" algn="ctr" defTabSz="584200">
      <a:defRPr sz="3600">
        <a:latin typeface="+mn-lt"/>
        <a:ea typeface="+mn-ea"/>
        <a:cs typeface="+mn-cs"/>
        <a:sym typeface="Helvetica Light"/>
      </a:defRPr>
    </a:lvl8pPr>
    <a:lvl9pPr indent="1828800" algn="ctr" defTabSz="584200">
      <a:defRPr sz="3600">
        <a:latin typeface="+mn-lt"/>
        <a:ea typeface="+mn-ea"/>
        <a:cs typeface="+mn-cs"/>
        <a:sym typeface="Helvetica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33" name="Shape 3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defTabSz="578485">
              <a:spcBef>
                <a:spcPts val="4100"/>
              </a:spcBef>
              <a:defRPr sz="1800"/>
            </a:pPr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defTabSz="578485">
              <a:spcBef>
                <a:spcPts val="4100"/>
              </a:spcBef>
              <a:defRPr sz="1800"/>
            </a:pPr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defTabSz="578485">
              <a:spcBef>
                <a:spcPts val="4100"/>
              </a:spcBef>
              <a:defRPr sz="1800"/>
            </a:pPr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 hasCustomPrompt="1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>
            <a:lvl1pPr>
              <a:defRPr sz="8000" cap="none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 lvl="0">
              <a:defRPr sz="1800"/>
            </a:pPr>
            <a:r>
              <a:rPr sz="8000"/>
              <a:t>Текст заголовка</a:t>
            </a:r>
            <a:endParaRPr sz="8000"/>
          </a:p>
        </p:txBody>
      </p:sp>
      <p:sp>
        <p:nvSpPr>
          <p:cNvPr id="11" name="Shape 11"/>
          <p:cNvSpPr>
            <a:spLocks noGrp="1"/>
          </p:cNvSpPr>
          <p:nvPr>
            <p:ph type="body" idx="1" hasCustomPrompt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>
              <a:defRPr sz="1800"/>
            </a:pPr>
            <a:r>
              <a:rPr sz="3200"/>
              <a:t>Уровень текста 1</a:t>
            </a:r>
            <a:endParaRPr sz="3200"/>
          </a:p>
          <a:p>
            <a:pPr lvl="1">
              <a:defRPr sz="1800"/>
            </a:pPr>
            <a:r>
              <a:rPr sz="3200"/>
              <a:t>Уровень текста 2</a:t>
            </a:r>
            <a:endParaRPr sz="3200"/>
          </a:p>
          <a:p>
            <a:pPr lvl="2">
              <a:defRPr sz="1800"/>
            </a:pPr>
            <a:r>
              <a:rPr sz="3200"/>
              <a:t>Уровень текста 3</a:t>
            </a:r>
            <a:endParaRPr sz="3200"/>
          </a:p>
          <a:p>
            <a:pPr lvl="3">
              <a:defRPr sz="1800"/>
            </a:pPr>
            <a:r>
              <a:rPr sz="3200"/>
              <a:t>Уровень текста 4</a:t>
            </a:r>
            <a:endParaRPr sz="3200"/>
          </a:p>
          <a:p>
            <a:pPr lvl="4">
              <a:defRPr sz="1800"/>
            </a:pPr>
            <a:r>
              <a:rPr sz="3200"/>
              <a:t>Уровень текста 5</a:t>
            </a:r>
            <a:endParaRPr sz="320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Заголовок — по цент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 hasCustomPrompt="1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>
            <a:lvl1pPr>
              <a:defRPr sz="8000" cap="none">
                <a:latin typeface="Proxima Nova Regular"/>
                <a:ea typeface="Proxima Nova Regular"/>
                <a:cs typeface="Proxima Nova Regular"/>
                <a:sym typeface="Proxima Nova Regular"/>
              </a:defRPr>
            </a:lvl1pPr>
          </a:lstStyle>
          <a:p>
            <a:pPr lvl="0">
              <a:defRPr sz="1800"/>
            </a:pPr>
            <a:r>
              <a:rPr sz="8000"/>
              <a:t>Текст заголовка</a:t>
            </a:r>
            <a:endParaRPr sz="800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/>
          </p:cNvSpPr>
          <p:nvPr>
            <p:ph type="title" hasCustomPrompt="1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 cap="none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 lvl="0">
              <a:defRPr sz="1800"/>
            </a:pPr>
            <a:r>
              <a:rPr sz="6000"/>
              <a:t>Текст заголовка</a:t>
            </a:r>
            <a:endParaRPr sz="6000"/>
          </a:p>
        </p:txBody>
      </p:sp>
      <p:sp>
        <p:nvSpPr>
          <p:cNvPr id="16" name="Shape 16"/>
          <p:cNvSpPr>
            <a:spLocks noGrp="1"/>
          </p:cNvSpPr>
          <p:nvPr>
            <p:ph type="body" idx="1" hasCustomPrompt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>
              <a:spcBef>
                <a:spcPts val="0"/>
              </a:spcBef>
              <a:defRPr sz="32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>
              <a:defRPr sz="1800"/>
            </a:pPr>
            <a:r>
              <a:rPr sz="3200"/>
              <a:t>Уровень текста 1</a:t>
            </a:r>
            <a:endParaRPr sz="3200"/>
          </a:p>
          <a:p>
            <a:pPr lvl="1">
              <a:defRPr sz="1800"/>
            </a:pPr>
            <a:r>
              <a:rPr sz="3200"/>
              <a:t>Уровень текста 2</a:t>
            </a:r>
            <a:endParaRPr sz="3200"/>
          </a:p>
          <a:p>
            <a:pPr lvl="2">
              <a:defRPr sz="1800"/>
            </a:pPr>
            <a:r>
              <a:rPr sz="3200"/>
              <a:t>Уровень текста 3</a:t>
            </a:r>
            <a:endParaRPr sz="3200"/>
          </a:p>
          <a:p>
            <a:pPr lvl="3">
              <a:defRPr sz="1800"/>
            </a:pPr>
            <a:r>
              <a:rPr sz="3200"/>
              <a:t>Уровень текста 4</a:t>
            </a:r>
            <a:endParaRPr sz="3200"/>
          </a:p>
          <a:p>
            <a:pPr lvl="4">
              <a:defRPr sz="1800"/>
            </a:pPr>
            <a:r>
              <a:rPr sz="3200"/>
              <a:t>Уровень текста 5</a:t>
            </a:r>
            <a:endParaRPr sz="320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Заголовок — в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 hasCustomPrompt="1"/>
          </p:nvPr>
        </p:nvSpPr>
        <p:spPr>
          <a:xfrm>
            <a:off x="1652041" y="750788"/>
            <a:ext cx="9700718" cy="759024"/>
          </a:xfrm>
          <a:prstGeom prst="rect">
            <a:avLst/>
          </a:prstGeom>
        </p:spPr>
        <p:txBody>
          <a:bodyPr/>
          <a:lstStyle>
            <a:lvl1pPr>
              <a:defRPr sz="4000" b="1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/>
            </a:pPr>
            <a:r>
              <a:rPr sz="4000" b="1"/>
              <a:t>Текст заголовка</a:t>
            </a:r>
            <a:endParaRPr sz="4000" b="1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sz="4500" cap="all"/>
              <a:t>Текст заголовка</a:t>
            </a:r>
            <a:endParaRPr sz="4500" cap="all"/>
          </a:p>
        </p:txBody>
      </p:sp>
      <p:sp>
        <p:nvSpPr>
          <p:cNvPr id="21" name="Shape 21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Уровень текста 1</a:t>
            </a:r>
            <a:endParaRPr sz="2800"/>
          </a:p>
          <a:p>
            <a:pPr lvl="1">
              <a:defRPr sz="1800"/>
            </a:pPr>
            <a:r>
              <a:rPr sz="2800"/>
              <a:t>Уровень текста 2</a:t>
            </a:r>
            <a:endParaRPr sz="2800"/>
          </a:p>
          <a:p>
            <a:pPr lvl="2">
              <a:defRPr sz="1800"/>
            </a:pPr>
            <a:r>
              <a:rPr sz="2800"/>
              <a:t>Уровень текста 3</a:t>
            </a:r>
            <a:endParaRPr sz="2800"/>
          </a:p>
          <a:p>
            <a:pPr lvl="3">
              <a:defRPr sz="1800"/>
            </a:pPr>
            <a:r>
              <a:rPr sz="2800"/>
              <a:t>Уровень текста 4</a:t>
            </a:r>
            <a:endParaRPr sz="2800"/>
          </a:p>
          <a:p>
            <a:pPr lvl="4">
              <a:defRPr sz="1800"/>
            </a:pPr>
            <a:r>
              <a:rPr sz="2800"/>
              <a:t>Уровень текста 5</a:t>
            </a:r>
            <a:endParaRPr sz="2800"/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 hasCustomPrompt="1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/>
          <a:lstStyle>
            <a:lvl1pPr>
              <a:defRPr sz="8000" cap="none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 lvl="0">
              <a:defRPr sz="1800"/>
            </a:pPr>
            <a:r>
              <a:rPr sz="8000"/>
              <a:t>Текст заголовка</a:t>
            </a:r>
            <a:endParaRPr sz="8000"/>
          </a:p>
        </p:txBody>
      </p:sp>
      <p:sp>
        <p:nvSpPr>
          <p:cNvPr id="25" name="Shape 25"/>
          <p:cNvSpPr>
            <a:spLocks noGrp="1"/>
          </p:cNvSpPr>
          <p:nvPr>
            <p:ph type="body" idx="1" hasCustomPrompt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1pPr>
            <a:lvl2pPr marL="6858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2pPr>
            <a:lvl3pPr marL="10287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4pPr>
            <a:lvl5pPr marL="1714500" indent="-342900">
              <a:spcBef>
                <a:spcPts val="3200"/>
              </a:spcBef>
              <a:buSzPct val="75000"/>
              <a:buChar char="•"/>
              <a:defRPr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>
              <a:defRPr sz="1800"/>
            </a:pPr>
            <a:r>
              <a:rPr sz="2800"/>
              <a:t>Уровень текста 1</a:t>
            </a:r>
            <a:endParaRPr sz="2800"/>
          </a:p>
          <a:p>
            <a:pPr lvl="1">
              <a:defRPr sz="1800"/>
            </a:pPr>
            <a:r>
              <a:rPr sz="2800"/>
              <a:t>Уровень текста 2</a:t>
            </a:r>
            <a:endParaRPr sz="2800"/>
          </a:p>
          <a:p>
            <a:pPr lvl="2">
              <a:defRPr sz="1800"/>
            </a:pPr>
            <a:r>
              <a:rPr sz="2800"/>
              <a:t>Уровень текста 3</a:t>
            </a:r>
            <a:endParaRPr sz="2800"/>
          </a:p>
          <a:p>
            <a:pPr lvl="3">
              <a:defRPr sz="1800"/>
            </a:pPr>
            <a:r>
              <a:rPr sz="2800"/>
              <a:t>Уровень текста 4</a:t>
            </a:r>
            <a:endParaRPr sz="2800"/>
          </a:p>
          <a:p>
            <a:pPr lvl="4">
              <a:defRPr sz="1800"/>
            </a:pPr>
            <a:r>
              <a:rPr sz="2800"/>
              <a:t>Уровень текста 5</a:t>
            </a:r>
            <a:endParaRPr sz="280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body" idx="1" hasCustomPrompt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>
            <a:lvl1pPr marL="4445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marL="8890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marL="13335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marL="17780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marL="2222500" indent="-444500">
              <a:buSzPct val="75000"/>
              <a:buChar char="•"/>
              <a:defRPr sz="36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>
              <a:defRPr sz="1800"/>
            </a:pPr>
            <a:r>
              <a:rPr sz="3600"/>
              <a:t>Уровень текста 1</a:t>
            </a:r>
            <a:endParaRPr sz="3600"/>
          </a:p>
          <a:p>
            <a:pPr lvl="1">
              <a:defRPr sz="1800"/>
            </a:pPr>
            <a:r>
              <a:rPr sz="3600"/>
              <a:t>Уровень текста 2</a:t>
            </a:r>
            <a:endParaRPr sz="3600"/>
          </a:p>
          <a:p>
            <a:pPr lvl="2">
              <a:defRPr sz="1800"/>
            </a:pPr>
            <a:r>
              <a:rPr sz="3600"/>
              <a:t>Уровень текста 3</a:t>
            </a:r>
            <a:endParaRPr sz="3600"/>
          </a:p>
          <a:p>
            <a:pPr lvl="3">
              <a:defRPr sz="1800"/>
            </a:pPr>
            <a:r>
              <a:rPr sz="3600"/>
              <a:t>Уровень текста 4</a:t>
            </a:r>
            <a:endParaRPr sz="3600"/>
          </a:p>
          <a:p>
            <a:pPr lvl="4">
              <a:defRPr sz="1800"/>
            </a:pPr>
            <a:r>
              <a:rPr sz="3600"/>
              <a:t>Уровень текста 5</a:t>
            </a:r>
            <a:endParaRPr sz="360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Фото — 3 шт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Кавы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47948" y="133101"/>
            <a:ext cx="11708904" cy="110539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 cap="none"/>
            </a:pPr>
            <a:r>
              <a:rPr sz="4500" cap="all"/>
              <a:t>Текст заголовка</a:t>
            </a:r>
            <a:endParaRPr sz="4500" cap="all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1519634"/>
            <a:ext cx="11099800" cy="71715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2800"/>
              <a:t>Уровень текста 1</a:t>
            </a:r>
            <a:endParaRPr sz="2800"/>
          </a:p>
          <a:p>
            <a:pPr lvl="1">
              <a:defRPr sz="1800"/>
            </a:pPr>
            <a:r>
              <a:rPr sz="2800"/>
              <a:t>Уровень текста 2</a:t>
            </a:r>
            <a:endParaRPr sz="2800"/>
          </a:p>
          <a:p>
            <a:pPr lvl="2">
              <a:defRPr sz="1800"/>
            </a:pPr>
            <a:r>
              <a:rPr sz="2800"/>
              <a:t>Уровень текста 3</a:t>
            </a:r>
            <a:endParaRPr sz="2800"/>
          </a:p>
          <a:p>
            <a:pPr lvl="3">
              <a:defRPr sz="1800"/>
            </a:pPr>
            <a:r>
              <a:rPr sz="2800"/>
              <a:t>Уровень текста 4</a:t>
            </a:r>
            <a:endParaRPr sz="2800"/>
          </a:p>
          <a:p>
            <a:pPr lvl="4">
              <a:defRPr sz="1800"/>
            </a:pPr>
            <a:r>
              <a:rPr sz="2800"/>
              <a:t>Уровень текста 5</a:t>
            </a:r>
            <a:endParaRPr sz="2800"/>
          </a:p>
        </p:txBody>
      </p:sp>
      <p:sp>
        <p:nvSpPr>
          <p:cNvPr id="4" name="Shape 4"/>
          <p:cNvSpPr/>
          <p:nvPr/>
        </p:nvSpPr>
        <p:spPr>
          <a:xfrm flipV="1">
            <a:off x="156966" y="1149349"/>
            <a:ext cx="12690867" cy="2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2497384" y="9264650"/>
            <a:ext cx="265532" cy="3048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1300">
                <a:latin typeface="Proxima Nova Light"/>
                <a:ea typeface="Proxima Nova Light"/>
                <a:cs typeface="Proxima Nova Light"/>
                <a:sym typeface="Proxima Nova Light"/>
              </a:defRPr>
            </a:lvl1pPr>
          </a:lstStyle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1pPr>
      <a:lvl2pPr indent="2286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2pPr>
      <a:lvl3pPr indent="4572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3pPr>
      <a:lvl4pPr indent="6858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4pPr>
      <a:lvl5pPr indent="9144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5pPr>
      <a:lvl6pPr indent="11430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6pPr>
      <a:lvl7pPr indent="13716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7pPr>
      <a:lvl8pPr indent="16002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8pPr>
      <a:lvl9pPr indent="1828800" algn="ctr" defTabSz="584200">
        <a:defRPr sz="4500" cap="all">
          <a:latin typeface="Proxima Nova Bold"/>
          <a:ea typeface="Proxima Nova Bold"/>
          <a:cs typeface="Proxima Nova Bold"/>
          <a:sym typeface="Proxima Nova Bold"/>
        </a:defRPr>
      </a:lvl9pPr>
    </p:titleStyle>
    <p:bodyStyle>
      <a:lvl1pPr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1pPr>
      <a:lvl2pPr indent="444500"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2pPr>
      <a:lvl3pPr indent="889000"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3pPr>
      <a:lvl4pPr indent="1333500"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4pPr>
      <a:lvl5pPr indent="1778000" defTabSz="584200">
        <a:spcBef>
          <a:spcPts val="4200"/>
        </a:spcBef>
        <a:defRPr sz="2800">
          <a:latin typeface="Proxima Nova Light"/>
          <a:ea typeface="Proxima Nova Light"/>
          <a:cs typeface="Proxima Nova Light"/>
          <a:sym typeface="Proxima Nova Light"/>
        </a:defRPr>
      </a:lvl5pPr>
      <a:lvl6pPr marL="2567940" indent="-345440" defTabSz="584200">
        <a:spcBef>
          <a:spcPts val="4200"/>
        </a:spcBef>
        <a:buSzPct val="75000"/>
        <a:buChar char="•"/>
        <a:defRPr sz="2800">
          <a:latin typeface="Proxima Nova Light"/>
          <a:ea typeface="Proxima Nova Light"/>
          <a:cs typeface="Proxima Nova Light"/>
          <a:sym typeface="Proxima Nova Light"/>
        </a:defRPr>
      </a:lvl6pPr>
      <a:lvl7pPr marL="3012440" indent="-345440" defTabSz="584200">
        <a:spcBef>
          <a:spcPts val="4200"/>
        </a:spcBef>
        <a:buSzPct val="75000"/>
        <a:buChar char="•"/>
        <a:defRPr sz="2800">
          <a:latin typeface="Proxima Nova Light"/>
          <a:ea typeface="Proxima Nova Light"/>
          <a:cs typeface="Proxima Nova Light"/>
          <a:sym typeface="Proxima Nova Light"/>
        </a:defRPr>
      </a:lvl7pPr>
      <a:lvl8pPr marL="3456940" indent="-345440" defTabSz="584200">
        <a:spcBef>
          <a:spcPts val="4200"/>
        </a:spcBef>
        <a:buSzPct val="75000"/>
        <a:buChar char="•"/>
        <a:defRPr sz="2800">
          <a:latin typeface="Proxima Nova Light"/>
          <a:ea typeface="Proxima Nova Light"/>
          <a:cs typeface="Proxima Nova Light"/>
          <a:sym typeface="Proxima Nova Light"/>
        </a:defRPr>
      </a:lvl8pPr>
      <a:lvl9pPr marL="3901440" indent="-345440" defTabSz="584200">
        <a:spcBef>
          <a:spcPts val="4200"/>
        </a:spcBef>
        <a:buSzPct val="75000"/>
        <a:buChar char="•"/>
        <a:defRPr sz="2800">
          <a:latin typeface="Proxima Nova Light"/>
          <a:ea typeface="Proxima Nova Light"/>
          <a:cs typeface="Proxima Nova Light"/>
          <a:sym typeface="Proxima Nova Light"/>
        </a:defRPr>
      </a:lvl9pPr>
    </p:bodyStyle>
    <p:otherStyle>
      <a:lvl1pPr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1pPr>
      <a:lvl2pPr indent="2286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2pPr>
      <a:lvl3pPr indent="4572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3pPr>
      <a:lvl4pPr indent="6858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4pPr>
      <a:lvl5pPr indent="9144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5pPr>
      <a:lvl6pPr indent="11430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6pPr>
      <a:lvl7pPr indent="13716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7pPr>
      <a:lvl8pPr indent="16002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8pPr>
      <a:lvl9pPr indent="1828800" algn="ctr" defTabSz="584200">
        <a:defRPr sz="1300">
          <a:solidFill>
            <a:schemeClr val="tx1"/>
          </a:solidFill>
          <a:latin typeface="+mn-lt"/>
          <a:ea typeface="+mn-ea"/>
          <a:cs typeface="+mn-cs"/>
          <a:sym typeface="Proxima Nov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title"/>
          </p:nvPr>
        </p:nvSpPr>
        <p:spPr>
          <a:xfrm>
            <a:off x="1269999" y="2382335"/>
            <a:ext cx="10464800" cy="1731567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14350">
              <a:defRPr sz="7040" cap="all">
                <a:latin typeface="Proxima Nova Bold"/>
                <a:ea typeface="Proxima Nova Bold"/>
                <a:cs typeface="Proxima Nova Bold"/>
                <a:sym typeface="Proxima Nova Bold"/>
              </a:defRPr>
            </a:lvl1pPr>
          </a:lstStyle>
          <a:p>
            <a:pPr lvl="0">
              <a:defRPr sz="1800" cap="none"/>
            </a:pPr>
            <a:r>
              <a:rPr lang="en-US" sz="3600" cap="all" dirty="0" err="1"/>
              <a:t>Cafe APP “Snezhinka”</a:t>
            </a:r>
            <a:br>
              <a:rPr lang="ru-RU" sz="3600" cap="all" dirty="0"/>
            </a:br>
            <a:br>
              <a:rPr lang="ru-RU" sz="3600" cap="all" dirty="0"/>
            </a:br>
            <a:r>
              <a:rPr lang="en-US" altLang="ru-RU" sz="3600" cap="all" dirty="0"/>
              <a:t>Authentic</a:t>
            </a:r>
            <a:endParaRPr lang="en-US" altLang="ru-RU" sz="3600" cap="all" dirty="0"/>
          </a:p>
        </p:txBody>
      </p:sp>
      <p:sp>
        <p:nvSpPr>
          <p:cNvPr id="57" name="Shape 57"/>
          <p:cNvSpPr/>
          <p:nvPr/>
        </p:nvSpPr>
        <p:spPr>
          <a:xfrm>
            <a:off x="3184186" y="8044536"/>
            <a:ext cx="6636432" cy="48731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2500" dirty="0" err="1">
                <a:latin typeface="Proxima Nova Light"/>
                <a:ea typeface="Proxima Nova Light"/>
                <a:cs typeface="Proxima Nova Light"/>
                <a:sym typeface="Proxima Nova Light"/>
              </a:rPr>
              <a:t>Презентация</a:t>
            </a:r>
            <a:r>
              <a:rPr sz="2500" dirty="0">
                <a:latin typeface="Proxima Nova Light"/>
                <a:ea typeface="Proxima Nova Light"/>
                <a:cs typeface="Proxima Nova Light"/>
                <a:sym typeface="Proxima Nova Light"/>
              </a:rPr>
              <a:t> </a:t>
            </a:r>
            <a:r>
              <a:rPr sz="2500" dirty="0" err="1">
                <a:latin typeface="Proxima Nova Light"/>
                <a:ea typeface="Proxima Nova Light"/>
                <a:cs typeface="Proxima Nova Light"/>
                <a:sym typeface="Proxima Nova Light"/>
              </a:rPr>
              <a:t>для</a:t>
            </a:r>
            <a:r>
              <a:rPr sz="2500" dirty="0">
                <a:latin typeface="Proxima Nova Light"/>
                <a:ea typeface="Proxima Nova Light"/>
                <a:cs typeface="Proxima Nova Light"/>
                <a:sym typeface="Proxima Nova Light"/>
              </a:rPr>
              <a:t> </a:t>
            </a:r>
            <a:r>
              <a:rPr lang="ru-RU" sz="2500" dirty="0" smtClean="0">
                <a:latin typeface="Proxima Nova Light"/>
                <a:ea typeface="Proxima Nova Light"/>
                <a:cs typeface="Proxima Nova Light"/>
                <a:sym typeface="Proxima Nova Light"/>
              </a:rPr>
              <a:t>олимпиады «</a:t>
            </a:r>
            <a:r>
              <a:rPr lang="en-US" sz="2500" dirty="0" smtClean="0">
                <a:latin typeface="Proxima Nova Light"/>
                <a:ea typeface="Proxima Nova Light"/>
                <a:cs typeface="Proxima Nova Light"/>
                <a:sym typeface="Proxima Nova Light"/>
              </a:rPr>
              <a:t>IT-</a:t>
            </a:r>
            <a:r>
              <a:rPr lang="ru-RU" sz="2500" smtClean="0">
                <a:latin typeface="Proxima Nova Light Italic"/>
                <a:ea typeface="Proxima Nova Light Italic"/>
                <a:cs typeface="Proxima Nova Light Italic"/>
                <a:sym typeface="Proxima Nova Light Italic"/>
              </a:rPr>
              <a:t>Планета»</a:t>
            </a:r>
            <a:endParaRPr sz="2500" dirty="0">
              <a:latin typeface="Proxima Nova Light Italic"/>
              <a:ea typeface="Proxima Nova Light Italic"/>
              <a:cs typeface="Proxima Nova Light Italic"/>
              <a:sym typeface="Proxima Nova Light Italic"/>
            </a:endParaRPr>
          </a:p>
        </p:txBody>
      </p:sp>
      <p:sp>
        <p:nvSpPr>
          <p:cNvPr id="59" name="Shape 59"/>
          <p:cNvSpPr/>
          <p:nvPr/>
        </p:nvSpPr>
        <p:spPr>
          <a:xfrm>
            <a:off x="298094" y="9063364"/>
            <a:ext cx="12408613" cy="31803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lvl="0" algn="l">
              <a:defRPr sz="1800"/>
            </a:pPr>
            <a:endParaRPr sz="1400" dirty="0">
              <a:latin typeface="Proxima Nova Light Italic"/>
              <a:ea typeface="Proxima Nova Light Italic"/>
              <a:cs typeface="Proxima Nova Light Italic"/>
              <a:sym typeface="Proxima Nova Light Italic"/>
            </a:endParaRPr>
          </a:p>
        </p:txBody>
      </p:sp>
      <p:sp>
        <p:nvSpPr>
          <p:cNvPr id="60" name="Shape 60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Команда </a:t>
            </a:r>
            <a:endParaRPr sz="4500" cap="all" dirty="0"/>
          </a:p>
        </p:txBody>
      </p:sp>
      <p:sp>
        <p:nvSpPr>
          <p:cNvPr id="165" name="Shape 165"/>
          <p:cNvSpPr>
            <a:spLocks noGrp="1"/>
          </p:cNvSpPr>
          <p:nvPr>
            <p:ph type="sldNum" sz="quarter" idx="2"/>
          </p:nvPr>
        </p:nvSpPr>
        <p:spPr>
          <a:xfrm>
            <a:off x="12502915" y="9264650"/>
            <a:ext cx="254470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xfrm>
            <a:off x="952500" y="1506934"/>
            <a:ext cx="11099800" cy="7171532"/>
          </a:xfrm>
          <a:prstGeom prst="rect">
            <a:avLst/>
          </a:prstGeom>
        </p:spPr>
        <p:txBody>
          <a:bodyPr anchor="t"/>
          <a:lstStyle/>
          <a:p>
            <a:pPr lvl="0">
              <a:defRPr sz="1800"/>
            </a:pPr>
            <a:r>
              <a:rPr 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Информация о команде, которая работала над проектом: 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 sz="1800"/>
            </a:pPr>
            <a:r>
              <a:rPr 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Очильдиева Насиба Шухратовна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 sz="1800"/>
            </a:pPr>
            <a:r>
              <a:rPr 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Разработчик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 sz="1800"/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СПб</a:t>
            </a:r>
            <a:r>
              <a:rPr lang="en-US" alt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ГБПОУ</a:t>
            </a:r>
            <a:r>
              <a:rPr lang="en-US" alt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" alt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«</a:t>
            </a:r>
            <a:r>
              <a:rPr lang="en-US" alt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КСИПТ</a:t>
            </a:r>
            <a:r>
              <a:rPr lang="" alt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»</a:t>
            </a:r>
            <a:endParaRPr lang="" alt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 sz="1800"/>
            </a:pPr>
            <a:r>
              <a:rPr lang="ru-RU" sz="1800" dirty="0">
                <a:solidFill>
                  <a:srgbClr val="000000"/>
                </a:solidFill>
                <a:latin typeface="Calibri" panose="020F0502020204030204" pitchFamily="34" charset="0"/>
              </a:rPr>
              <a:t>Опыт коммерческой разработки/стажировок отсутсвует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0">
              <a:defRPr sz="1800"/>
            </a:pPr>
            <a:endParaRPr lang="ru-RU" sz="1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67" name="Shape 167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  <p:sp>
        <p:nvSpPr>
          <p:cNvPr id="168" name="Shape 16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Краткое Описание проекта</a:t>
            </a:r>
            <a:endParaRPr sz="4500" cap="all" dirty="0"/>
          </a:p>
        </p:txBody>
      </p:sp>
      <p:sp>
        <p:nvSpPr>
          <p:cNvPr id="82" name="Shape 82"/>
          <p:cNvSpPr>
            <a:spLocks noGrp="1"/>
          </p:cNvSpPr>
          <p:nvPr>
            <p:ph type="sldNum" sz="quarter" idx="2"/>
          </p:nvPr>
        </p:nvSpPr>
        <p:spPr>
          <a:xfrm>
            <a:off x="12531559" y="9264650"/>
            <a:ext cx="197182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graphicFrame>
        <p:nvGraphicFramePr>
          <p:cNvPr id="83" name="Table 83"/>
          <p:cNvGraphicFramePr/>
          <p:nvPr/>
        </p:nvGraphicFramePr>
        <p:xfrm>
          <a:off x="669329" y="1727200"/>
          <a:ext cx="11666140" cy="6756943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316474"/>
                <a:gridCol w="8349666"/>
              </a:tblGrid>
              <a:tr h="1069521">
                <a:tc>
                  <a:txBody>
                    <a:bodyPr/>
                    <a:lstStyle/>
                    <a:p>
                      <a:pPr lvl="0" defTabSz="478790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ДЛЯ КОГО </a:t>
                      </a:r>
                      <a:r>
                        <a:rPr lang="ru-RU" sz="1600" dirty="0"/>
                        <a:t>(целевой сегмент)</a:t>
                      </a: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Владельцы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малых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кофеен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посетители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en-US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lvl="0" defTabSz="478790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КОТОРЫЕ НЕДОВОЛЬНЫ </a:t>
                      </a:r>
                      <a:r>
                        <a:rPr lang="ru-RU" sz="1600" dirty="0"/>
                        <a:t>(текущая альтернатива)</a:t>
                      </a: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spcBef>
                          <a:spcPts val="2500"/>
                        </a:spcBef>
                        <a:buSzPct val="75000"/>
                        <a:buNone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Которые недовольны о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шибками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ручном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расчете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сложных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заказов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отсутствием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наглядного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цифрового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меню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lvl="0" algn="l" defTabSz="350520">
                        <a:spcBef>
                          <a:spcPts val="2500"/>
                        </a:spcBef>
                        <a:defRPr sz="1800"/>
                      </a:pP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lvl="0" defTabSz="478790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НАШ ПРОДУКТ </a:t>
                      </a:r>
                      <a:r>
                        <a:rPr lang="ru-RU" sz="1600" dirty="0"/>
                        <a:t>(ваша продуктовая категория)</a:t>
                      </a: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50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Наш продукт – к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россплатформенное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электронное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меню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калькулятор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с возможностью будущего внедрения системы оформления заказов.</a:t>
                      </a:r>
                      <a:endParaRPr lang="en-US" altLang="en-US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Bold"/>
                      </a:endParaRPr>
                    </a:p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lvl="0" defTabSz="478790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КОТОРЫЙ ПОЗВОЛЯЕТ</a:t>
                      </a:r>
                      <a:r>
                        <a:rPr lang="ru-RU" sz="1600" dirty="0"/>
                        <a:t>(ключевое решение)</a:t>
                      </a:r>
                      <a:endParaRPr lang="ru-RU" sz="1600" dirty="0"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Который позволяет а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втоматически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вычислять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итоговую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стоимость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заказа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учетом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любых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модификаторов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для клиентов и удобно управлять самим меню сотрудниками для предоставления актуальных позиций и их стоимости.</a:t>
                      </a:r>
                      <a:endParaRPr lang="en-US" altLang="en-US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lvl="0" defTabSz="478790">
                        <a:spcBef>
                          <a:spcPts val="3400"/>
                        </a:spcBef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В ОТЛИЧИЕ ОТ </a:t>
                      </a:r>
                      <a:r>
                        <a:rPr lang="ru-RU" sz="1600" dirty="0"/>
                        <a:t>(альтернативные решения)</a:t>
                      </a:r>
                      <a:endParaRPr lang="ru-RU"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 отличие с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татичных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PDF-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меню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и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дорогостоящи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учетны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систем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не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адаптированны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под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микро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бизнес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,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наше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решение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просто,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мобильно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объединяет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витрину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расчетным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модулем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Bold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Bold"/>
                      </a:endParaRPr>
                    </a:p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МЫ СДЕЛАЛИ </a:t>
                      </a:r>
                      <a:r>
                        <a:rPr lang="ru-RU" sz="1600" dirty="0"/>
                        <a:t>(ключевой функционал вашего продукта для конкретного решения проблемы)</a:t>
                      </a:r>
                      <a:endParaRPr lang="ru-RU" sz="1600" dirty="0"/>
                    </a:p>
                    <a:p>
                      <a:pPr lvl="0" defTabSz="914400">
                        <a:defRPr sz="1800"/>
                      </a:pP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defRPr sz="1800"/>
                      </a:pPr>
                      <a:r>
                        <a:rPr lang="ru-RU" sz="1600" dirty="0">
                          <a:sym typeface="Proxima Nova Light"/>
                        </a:rPr>
                        <a:t>У нас есть </a:t>
                      </a:r>
                      <a:r>
                        <a:rPr lang="en-US" altLang="ru-RU" sz="1600" dirty="0">
                          <a:sym typeface="Proxima Nova Light"/>
                        </a:rPr>
                        <a:t>MVP </a:t>
                      </a:r>
                      <a:r>
                        <a:rPr lang="en-US" altLang="en-US" sz="1600" dirty="0">
                          <a:sym typeface="Proxima Nova Light"/>
                        </a:rPr>
                        <a:t>на</a:t>
                      </a:r>
                      <a:r>
                        <a:rPr lang="en-US" altLang="ru-RU" sz="1600" dirty="0">
                          <a:sym typeface="Proxima Nova Light"/>
                        </a:rPr>
                        <a:t> Flutter </a:t>
                      </a:r>
                      <a:r>
                        <a:rPr lang="en-US" altLang="en-US" sz="1600" dirty="0">
                          <a:sym typeface="Proxima Nova Light"/>
                        </a:rPr>
                        <a:t>с</a:t>
                      </a:r>
                      <a:r>
                        <a:rPr lang="en-US" altLang="ru-RU" sz="1600" dirty="0">
                          <a:sym typeface="Proxima Nova Light"/>
                        </a:rPr>
                        <a:t> </a:t>
                      </a:r>
                      <a:r>
                        <a:rPr lang="en-US" altLang="en-US" sz="1600" dirty="0">
                          <a:sym typeface="Proxima Nova Light"/>
                        </a:rPr>
                        <a:t>динамическим</a:t>
                      </a:r>
                      <a:r>
                        <a:rPr lang="en-US" altLang="ru-RU" sz="1600" dirty="0">
                          <a:sym typeface="Proxima Nova Light"/>
                        </a:rPr>
                        <a:t> </a:t>
                      </a:r>
                      <a:r>
                        <a:rPr lang="en-US" altLang="en-US" sz="1600" dirty="0">
                          <a:sym typeface="Proxima Nova Light"/>
                        </a:rPr>
                        <a:t>расчетом</a:t>
                      </a:r>
                      <a:r>
                        <a:rPr lang="en-US" altLang="ru-RU" sz="1600" dirty="0">
                          <a:sym typeface="Proxima Nova Light"/>
                        </a:rPr>
                        <a:t> </a:t>
                      </a:r>
                      <a:r>
                        <a:rPr lang="en-US" altLang="en-US" sz="1600" dirty="0">
                          <a:sym typeface="Proxima Nova Light"/>
                        </a:rPr>
                        <a:t>цен</a:t>
                      </a:r>
                      <a:r>
                        <a:rPr lang="en-US" altLang="ru-RU" sz="1600" dirty="0">
                          <a:sym typeface="Proxima Nova Light"/>
                        </a:rPr>
                        <a:t> </a:t>
                      </a:r>
                      <a:r>
                        <a:rPr lang="en-US" altLang="en-US" sz="1600" dirty="0">
                          <a:sym typeface="Proxima Nova Light"/>
                        </a:rPr>
                        <a:t>и</a:t>
                      </a:r>
                      <a:r>
                        <a:rPr lang="en-US" altLang="ru-RU" sz="1600" dirty="0">
                          <a:sym typeface="Proxima Nova Light"/>
                        </a:rPr>
                        <a:t> </a:t>
                      </a:r>
                      <a:r>
                        <a:rPr lang="en-US" altLang="en-US" sz="1600" dirty="0">
                          <a:sym typeface="Proxima Nova Light"/>
                        </a:rPr>
                        <a:t>облачной</a:t>
                      </a:r>
                      <a:r>
                        <a:rPr lang="en-US" altLang="ru-RU" sz="1600" dirty="0">
                          <a:sym typeface="Proxima Nova Light"/>
                        </a:rPr>
                        <a:t> </a:t>
                      </a:r>
                      <a:r>
                        <a:rPr lang="en-US" altLang="en-US" sz="1600" dirty="0">
                          <a:sym typeface="Proxima Nova Light"/>
                        </a:rPr>
                        <a:t>синхронизацией</a:t>
                      </a:r>
                      <a:r>
                        <a:rPr lang="en-US" altLang="ru-RU" sz="1600" dirty="0">
                          <a:sym typeface="Proxima Nova Light"/>
                        </a:rPr>
                        <a:t> </a:t>
                      </a:r>
                      <a:r>
                        <a:rPr lang="en-US" altLang="en-US" sz="1600" dirty="0">
                          <a:sym typeface="Proxima Nova Light"/>
                        </a:rPr>
                        <a:t>через</a:t>
                      </a:r>
                      <a:r>
                        <a:rPr lang="en-US" altLang="ru-RU" sz="1600" dirty="0">
                          <a:sym typeface="Proxima Nova Light"/>
                        </a:rPr>
                        <a:t> Firebase</a:t>
                      </a:r>
                      <a:r>
                        <a:rPr lang="ru-RU" altLang="en-US" sz="1600" dirty="0">
                          <a:sym typeface="Proxima Nova Light"/>
                        </a:rPr>
                        <a:t>. Отдельный раздел для сотрудников кафе для управления состоянием меню для предоставления клиентам актуальных данных.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None/>
                        <a:defRPr sz="1800"/>
                      </a:pPr>
                      <a:endParaRPr 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560705">
              <a:defRPr sz="4320"/>
            </a:lvl1pPr>
          </a:lstStyle>
          <a:p>
            <a:pPr lvl="0">
              <a:defRPr sz="1800" cap="none"/>
            </a:pPr>
            <a:r>
              <a:rPr sz="4320" cap="all"/>
              <a:t>ПРОБЛЕМА / АЛЬТЕРНАТИВНЫЕ РЕШЕНИЯ</a:t>
            </a:r>
            <a:endParaRPr sz="4320" cap="all"/>
          </a:p>
        </p:txBody>
      </p:sp>
      <p:sp>
        <p:nvSpPr>
          <p:cNvPr id="178" name="Shape 178"/>
          <p:cNvSpPr>
            <a:spLocks noGrp="1"/>
          </p:cNvSpPr>
          <p:nvPr>
            <p:ph type="sldNum" sz="quarter" idx="2"/>
          </p:nvPr>
        </p:nvSpPr>
        <p:spPr>
          <a:xfrm>
            <a:off x="12499365" y="9264650"/>
            <a:ext cx="261570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graphicFrame>
        <p:nvGraphicFramePr>
          <p:cNvPr id="179" name="Table 179"/>
          <p:cNvGraphicFramePr/>
          <p:nvPr/>
        </p:nvGraphicFramePr>
        <p:xfrm>
          <a:off x="840684" y="1563401"/>
          <a:ext cx="11516168" cy="7766051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62891"/>
                <a:gridCol w="8553277"/>
              </a:tblGrid>
              <a:tr h="1106228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ПРОБЛЕМА</a:t>
                      </a: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, ПОТРЕБНОСТЬ 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Человеческий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фактор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расчете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заказов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«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бегу</a:t>
                      </a:r>
                      <a:r>
                        <a:rPr lang="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»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ведет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финансовым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потерям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очередям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</a:t>
                      </a:r>
                      <a:endParaRPr lang="ru-RU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03972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АЛЬТЕРНАТИВЫ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Ручной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расчет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(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использование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калькулятора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или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записей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блокноте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)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; Статичные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прайс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листы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(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печатные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меню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или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доски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позволяющие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быстро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менять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цены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)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; Сложные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POS-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системы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которые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избыточны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для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микро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кофейни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цене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железу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137835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АНАЛИЗ КОНКУРЕНТОВ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Слабые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стороны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альтернатив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заключаются 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риск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ошибки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бариста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расчете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высок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стоимост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внедрения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профессионального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софта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и трата времени клиента для самостоятельной записи заказа и его расчета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И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недостаточно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так как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они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обеспечивают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мобильность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мгновенную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синхронизацию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меню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через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облако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без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покупки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спец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оборудования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59749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ЦЕЛЬ и РЕЗУЛЬТАТ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Цель -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Автоматизация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расчетных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операций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внедрение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системы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заказов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без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покупки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дорогостоящего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оборудования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lvl="0" algn="l" defTabSz="914400">
                        <a:defRPr sz="1800"/>
                      </a:pP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Результат -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Повышение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скорости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обслуживания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100%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точность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учета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стоимости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каждого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ингредиента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и любой позиции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720882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АКТУАЛЬНОСТЬ 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Основной тренд, который поддерживает данный продукт -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рост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числа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микро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кофеен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(</a:t>
                      </a:r>
                      <a:r>
                        <a:rPr lang="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«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кофе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собой</a:t>
                      </a:r>
                      <a:r>
                        <a:rPr lang="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»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)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потребность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дешевых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инструментах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автоматизации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оступность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Firebase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для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real-time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синхронизации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данных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массовое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использование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личных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смартфонов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рабочих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инструментов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позволяют удовлетворить желание удобного взаимодействия клиентов с подобными заведениями.</a:t>
                      </a: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737385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ПРЕИМУЩЕСТВА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None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Ключевым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преимуществом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приложения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является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создание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комфортной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среды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для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клиента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формировании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сложного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заказа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множеством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модификаторов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Интерактивное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меню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калькулятор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позволяет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гостю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заранее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составить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точный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список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напитков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добавок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увидеть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итоговую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стоимость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просто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продиктовать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готовый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состав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бариста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что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исключает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ошибки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расчетах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сокращает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время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обслуживания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у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кассы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Благодаря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интеграции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Firebase,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сотрудники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кафе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могут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мгновенно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обновлять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ассортимент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цены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облаке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гарантируя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клиенту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актуальность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информации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его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смартфоне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без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необходимости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установки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тяжеловесного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софта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или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регистрации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0705">
              <a:defRPr sz="4320"/>
            </a:lvl1pPr>
          </a:lstStyle>
          <a:p>
            <a:pPr lvl="0">
              <a:defRPr sz="1800" cap="none"/>
            </a:pPr>
            <a:r>
              <a:rPr lang="ru-RU" sz="4400" cap="all" dirty="0"/>
              <a:t>КЛИЕНТЫ и СЕГМЕНТЫ</a:t>
            </a:r>
            <a:endParaRPr sz="4320" cap="all" dirty="0"/>
          </a:p>
        </p:txBody>
      </p:sp>
      <p:sp>
        <p:nvSpPr>
          <p:cNvPr id="178" name="Shape 178"/>
          <p:cNvSpPr>
            <a:spLocks noGrp="1"/>
          </p:cNvSpPr>
          <p:nvPr>
            <p:ph type="sldNum" sz="quarter" idx="2"/>
          </p:nvPr>
        </p:nvSpPr>
        <p:spPr>
          <a:xfrm>
            <a:off x="12499365" y="9264650"/>
            <a:ext cx="261570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graphicFrame>
        <p:nvGraphicFramePr>
          <p:cNvPr id="179" name="Table 179"/>
          <p:cNvGraphicFramePr/>
          <p:nvPr/>
        </p:nvGraphicFramePr>
        <p:xfrm>
          <a:off x="840684" y="1563401"/>
          <a:ext cx="11516168" cy="6589334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62891"/>
                <a:gridCol w="8553277"/>
              </a:tblGrid>
              <a:tr h="1106228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Портрет целевого клиента/пользователя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r>
                        <a:rPr lang="en-US" altLang="en-US" sz="1600" dirty="0"/>
                        <a:t>Посетители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кофеен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точек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формата</a:t>
                      </a:r>
                      <a:r>
                        <a:rPr lang="en-US" altLang="ru-RU" sz="1600" dirty="0"/>
                        <a:t> </a:t>
                      </a:r>
                      <a:r>
                        <a:rPr lang="" altLang="en-US" sz="1600" dirty="0"/>
                        <a:t>«</a:t>
                      </a:r>
                      <a:r>
                        <a:rPr lang="en-US" altLang="en-US" sz="1600" dirty="0"/>
                        <a:t>кофе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собой</a:t>
                      </a:r>
                      <a:r>
                        <a:rPr lang="" altLang="en-US" sz="1600" dirty="0"/>
                        <a:t>»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которые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ценят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своё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время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точность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заказа</a:t>
                      </a:r>
                      <a:r>
                        <a:rPr lang="en-US" altLang="ru-RU" sz="1600" dirty="0"/>
                        <a:t>. </a:t>
                      </a:r>
                      <a:r>
                        <a:rPr lang="en-US" altLang="en-US" sz="1600" dirty="0"/>
                        <a:t>Это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люди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использующие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смартфоны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для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планирования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покупок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с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бюджетом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на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ежедневное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потребление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напитков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вне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дома</a:t>
                      </a:r>
                      <a:r>
                        <a:rPr lang="en-US" altLang="ru-RU" sz="1600" dirty="0"/>
                        <a:t>.</a:t>
                      </a: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03972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Если </a:t>
                      </a:r>
                      <a:r>
                        <a:rPr lang="en-US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B2B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554990" eaLnBrk="1" fontAlgn="auto" latinLnBrk="0" hangingPunct="1">
                        <a:lnSpc>
                          <a:spcPct val="100000"/>
                        </a:lnSpc>
                        <a:spcBef>
                          <a:spcPts val="39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en-US" altLang="en-US" sz="1600" dirty="0"/>
                        <a:t>ЛПР</a:t>
                      </a:r>
                      <a:r>
                        <a:rPr lang="en-US" altLang="ru-RU" sz="1600" dirty="0"/>
                        <a:t> (</a:t>
                      </a:r>
                      <a:r>
                        <a:rPr lang="en-US" altLang="en-US" sz="1600" dirty="0"/>
                        <a:t>лицо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принимающее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решение</a:t>
                      </a:r>
                      <a:r>
                        <a:rPr lang="en-US" altLang="ru-RU" sz="1600" dirty="0"/>
                        <a:t>) — </a:t>
                      </a:r>
                      <a:r>
                        <a:rPr lang="en-US" altLang="en-US" sz="1600" dirty="0"/>
                        <a:t>владелец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или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управляющий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кофейни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для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которого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основной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ценностью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является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актуальность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меню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отсутствие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ошибок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расчетах</a:t>
                      </a:r>
                      <a:r>
                        <a:rPr lang="en-US" altLang="ru-RU" sz="1600" dirty="0"/>
                        <a:t>. </a:t>
                      </a:r>
                      <a:r>
                        <a:rPr lang="en-US" altLang="en-US" sz="1600" dirty="0"/>
                        <a:t>Пользователем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стороны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бизнеса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является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бариста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который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получает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четко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сформулированный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заказ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клиента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что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упрощает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коммуникацию</a:t>
                      </a:r>
                      <a:r>
                        <a:rPr lang="en-US" altLang="ru-RU" sz="1600" dirty="0"/>
                        <a:t>.</a:t>
                      </a:r>
                      <a:endParaRPr lang="en-US" altLang="ru-RU" sz="1600" dirty="0"/>
                    </a:p>
                  </a:txBody>
                  <a:tcPr marL="50800" marR="50800" marT="50800" marB="50800" anchor="ctr" horzOverflow="overflow"/>
                </a:tc>
              </a:tr>
              <a:tr h="1137835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en-US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Use Case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lang="en-US" altLang="en-US" sz="1600" dirty="0"/>
                        <a:t>Клиент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подходит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очереди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кофейне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хочет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собрать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сложный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авторский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напиток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добавками</a:t>
                      </a:r>
                      <a:r>
                        <a:rPr lang="en-US" altLang="ru-RU" sz="1600" dirty="0"/>
                        <a:t>. </a:t>
                      </a:r>
                      <a:r>
                        <a:rPr lang="en-US" altLang="en-US" sz="1600" dirty="0"/>
                        <a:t>Сейчас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он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пытается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вспомнить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все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позиции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или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ищет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их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на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меловой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доске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что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задерживает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очередь</a:t>
                      </a:r>
                      <a:r>
                        <a:rPr lang="en-US" altLang="ru-RU" sz="1600" dirty="0"/>
                        <a:t>. </a:t>
                      </a:r>
                      <a:r>
                        <a:rPr lang="en-US" altLang="en-US" sz="1600" dirty="0"/>
                        <a:t>С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нашим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приложением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он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заранее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собирает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заказ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телефоне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видит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итоговую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стоимость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просто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диктует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готовый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список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бариста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когда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подходит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его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очередь</a:t>
                      </a:r>
                      <a:r>
                        <a:rPr lang="en-US" altLang="ru-RU" sz="1600" dirty="0"/>
                        <a:t>.</a:t>
                      </a: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59749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Портрет раннего последователя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lang="en-US" altLang="en-US" sz="1600" dirty="0"/>
                        <a:t>Постоянный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посетитель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небольших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локальных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кофеен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который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часто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заказывает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напитки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индивидуальными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модификаторами</a:t>
                      </a:r>
                      <a:r>
                        <a:rPr lang="en-US" altLang="ru-RU" sz="1600" dirty="0"/>
                        <a:t> (</a:t>
                      </a:r>
                      <a:r>
                        <a:rPr lang="en-US" altLang="en-US" sz="1600" dirty="0"/>
                        <a:t>альтернативное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молоко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сиропы</a:t>
                      </a:r>
                      <a:r>
                        <a:rPr lang="en-US" altLang="ru-RU" sz="1600" dirty="0"/>
                        <a:t>, </a:t>
                      </a:r>
                      <a:r>
                        <a:rPr lang="en-US" altLang="en-US" sz="1600" dirty="0"/>
                        <a:t>дополнительные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шоты</a:t>
                      </a:r>
                      <a:r>
                        <a:rPr lang="en-US" altLang="ru-RU" sz="1600" dirty="0"/>
                        <a:t>) </a:t>
                      </a:r>
                      <a:r>
                        <a:rPr lang="en-US" altLang="en-US" sz="1600" dirty="0"/>
                        <a:t>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испытывает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дискомфорт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необходимости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долго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объяснять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или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перепроверять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цену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заказа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у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кассы</a:t>
                      </a:r>
                      <a:r>
                        <a:rPr lang="en-US" altLang="ru-RU" sz="1600" dirty="0"/>
                        <a:t>.</a:t>
                      </a: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720882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Контакт с клиентом</a:t>
                      </a:r>
                      <a:endParaRPr sz="1600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Размещение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QR-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кодов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столиках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у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кассовой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зоны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кофе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й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для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быстрого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перехода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страницу установки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приложени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Также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эффективным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каналом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является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продвижение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тематических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сообществах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любителей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кофе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социальных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сетях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0705">
              <a:defRPr sz="4320"/>
            </a:lvl1pPr>
          </a:lstStyle>
          <a:p>
            <a:pPr lvl="0">
              <a:defRPr sz="1800" cap="none"/>
            </a:pPr>
            <a:r>
              <a:rPr lang="ru-RU" sz="4400" cap="all" dirty="0"/>
              <a:t>Технологии и инструменты </a:t>
            </a:r>
            <a:endParaRPr sz="4320" cap="all" dirty="0"/>
          </a:p>
        </p:txBody>
      </p:sp>
      <p:sp>
        <p:nvSpPr>
          <p:cNvPr id="178" name="Shape 178"/>
          <p:cNvSpPr>
            <a:spLocks noGrp="1"/>
          </p:cNvSpPr>
          <p:nvPr>
            <p:ph type="sldNum" sz="quarter" idx="2"/>
          </p:nvPr>
        </p:nvSpPr>
        <p:spPr>
          <a:xfrm>
            <a:off x="12499365" y="9264650"/>
            <a:ext cx="261570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graphicFrame>
        <p:nvGraphicFramePr>
          <p:cNvPr id="179" name="Table 179"/>
          <p:cNvGraphicFramePr/>
          <p:nvPr/>
        </p:nvGraphicFramePr>
        <p:xfrm>
          <a:off x="840684" y="1563401"/>
          <a:ext cx="11516168" cy="7402343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62891"/>
                <a:gridCol w="8553277"/>
              </a:tblGrid>
              <a:tr h="1836291">
                <a:tc>
                  <a:txBody>
                    <a:bodyPr/>
                    <a:lstStyle/>
                    <a:p>
                      <a:pPr lvl="0"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sym typeface="Proxima Nova Light"/>
                        </a:rPr>
                        <a:t>Что лежит в основе вашего решения?</a:t>
                      </a:r>
                      <a:endParaRPr lang="ru-RU" sz="1600" b="0" i="0" dirty="0">
                        <a:solidFill>
                          <a:srgbClr val="000000"/>
                        </a:solidFill>
                        <a:latin typeface="Proxima Nova Light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основе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приложения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лежит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фреймворк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Flutter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язык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Dart,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что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позволило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создать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высокопроизводительный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плавный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интерфейс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для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клиента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с любой ОС смартфона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качестве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серверной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части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используется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Firebase Firestore,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обеспечивающий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синхронизацию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меню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реальном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времени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выбрали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этот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стек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скорость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разработки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возможность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мгновенного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обновления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данных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облаке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без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выпуска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новой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версии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приложения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а так же за возможность создания именно кросс-платформенного приложения, так как клиенты могут быть с разными типами устройств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99292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Почему данная технология является уникальной (если является)?</a:t>
                      </a:r>
                      <a:endParaRPr lang="ru-RU" sz="1600" b="0" i="0" dirty="0">
                        <a:solidFill>
                          <a:srgbClr val="000000"/>
                        </a:solidFill>
                        <a:latin typeface="Proxima Nova Ligh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altLang="en-US" sz="1600" dirty="0"/>
                        <a:t>Уникальность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заключается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архитектурном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подходе</a:t>
                      </a:r>
                      <a:r>
                        <a:rPr lang="en-US" altLang="ru-RU" sz="1600" dirty="0"/>
                        <a:t>: </a:t>
                      </a:r>
                      <a:r>
                        <a:rPr lang="en-US" altLang="en-US" sz="1600" dirty="0"/>
                        <a:t>приложение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объединяет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динамический</a:t>
                      </a:r>
                      <a:r>
                        <a:rPr lang="en-US" altLang="ru-RU" sz="1600" dirty="0"/>
                        <a:t> NoSQL-</a:t>
                      </a:r>
                      <a:r>
                        <a:rPr lang="en-US" altLang="en-US" sz="1600" dirty="0"/>
                        <a:t>бекенд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полностью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авторский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визуальный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стиль</a:t>
                      </a:r>
                      <a:r>
                        <a:rPr lang="en-US" altLang="ru-RU" sz="1600" dirty="0"/>
                        <a:t>. </a:t>
                      </a:r>
                      <a:r>
                        <a:rPr lang="en-US" altLang="en-US" sz="1600" dirty="0"/>
                        <a:t>Это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позволяет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микро</a:t>
                      </a:r>
                      <a:r>
                        <a:rPr lang="en-US" altLang="ru-RU" sz="1600" dirty="0"/>
                        <a:t>-</a:t>
                      </a:r>
                      <a:r>
                        <a:rPr lang="en-US" altLang="en-US" sz="1600" dirty="0"/>
                        <a:t>бизнесу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получить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кастомный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цифровой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продукт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без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вложений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в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разработку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собственной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серверной</a:t>
                      </a:r>
                      <a:r>
                        <a:rPr lang="en-US" altLang="ru-RU" sz="1600" dirty="0"/>
                        <a:t> </a:t>
                      </a:r>
                      <a:r>
                        <a:rPr lang="en-US" altLang="en-US" sz="1600" dirty="0"/>
                        <a:t>инфраструктуры</a:t>
                      </a:r>
                      <a:r>
                        <a:rPr lang="en-US" altLang="ru-RU" sz="1600" dirty="0"/>
                        <a:t>.</a:t>
                      </a:r>
                      <a:endParaRPr lang="en-US" altLang="ru-RU" sz="1600" dirty="0"/>
                    </a:p>
                  </a:txBody>
                  <a:tcPr marL="50800" marR="50800" marT="50800" marB="50800" anchor="ctr" horzOverflow="overflow"/>
                </a:tc>
              </a:tr>
              <a:tr h="1852247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Используются ли ИИ, нейросети и </a:t>
                      </a:r>
                      <a:r>
                        <a:rPr lang="ru-RU" sz="1600" b="0" i="0" dirty="0" err="1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тп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? </a:t>
                      </a:r>
                      <a:endParaRPr lang="ru-RU" sz="1600" b="0" i="0" dirty="0">
                        <a:solidFill>
                          <a:srgbClr val="000000"/>
                        </a:solidFill>
                        <a:latin typeface="Proxima Nova Light"/>
                        <a:ea typeface="+mn-ea"/>
                        <a:cs typeface="+mn-cs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en-US" altLang="en-US" sz="1600" dirty="0">
                          <a:sym typeface="+mn-ea"/>
                        </a:rPr>
                        <a:t>Название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нейросети</a:t>
                      </a:r>
                      <a:r>
                        <a:rPr lang="en-US" altLang="ru-RU" sz="1600" dirty="0">
                          <a:sym typeface="+mn-ea"/>
                        </a:rPr>
                        <a:t>: Google Gemini.</a:t>
                      </a:r>
                      <a:endParaRPr lang="en-US" altLang="ru-RU" sz="1600" dirty="0"/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en-US" altLang="en-US" sz="1600" dirty="0">
                          <a:sym typeface="+mn-ea"/>
                        </a:rPr>
                        <a:t>Блок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выполненных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работ</a:t>
                      </a:r>
                      <a:r>
                        <a:rPr lang="en-US" altLang="ru-RU" sz="1600" dirty="0">
                          <a:sym typeface="+mn-ea"/>
                        </a:rPr>
                        <a:t>: </a:t>
                      </a:r>
                      <a:r>
                        <a:rPr lang="en-US" altLang="en-US" sz="1600" dirty="0">
                          <a:sym typeface="+mn-ea"/>
                        </a:rPr>
                        <a:t>Технический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консалтинг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по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архитектуре</a:t>
                      </a:r>
                      <a:r>
                        <a:rPr lang="en-US" altLang="ru-RU" sz="1600" dirty="0">
                          <a:sym typeface="+mn-ea"/>
                        </a:rPr>
                        <a:t> Flutter-</a:t>
                      </a:r>
                      <a:r>
                        <a:rPr lang="en-US" altLang="en-US" sz="1600" dirty="0">
                          <a:sym typeface="+mn-ea"/>
                        </a:rPr>
                        <a:t>приложения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и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оптимизация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облачных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запросов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к</a:t>
                      </a:r>
                      <a:r>
                        <a:rPr lang="en-US" altLang="ru-RU" sz="1600" dirty="0">
                          <a:sym typeface="+mn-ea"/>
                        </a:rPr>
                        <a:t> Firebase.</a:t>
                      </a:r>
                      <a:endParaRPr lang="en-US" altLang="ru-RU" sz="1600" dirty="0"/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en-US" altLang="en-US" sz="1600" dirty="0">
                          <a:sym typeface="+mn-ea"/>
                        </a:rPr>
                        <a:t>Обоснование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выбора</a:t>
                      </a:r>
                      <a:r>
                        <a:rPr lang="en-US" altLang="ru-RU" sz="1600" dirty="0">
                          <a:sym typeface="+mn-ea"/>
                        </a:rPr>
                        <a:t>: </a:t>
                      </a:r>
                      <a:r>
                        <a:rPr lang="en-US" altLang="en-US" sz="1600" dirty="0">
                          <a:sym typeface="+mn-ea"/>
                        </a:rPr>
                        <a:t>Необходимость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верификации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кода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на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соответствие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современным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стандартам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мобильной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разработки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и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оптимизация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времени</a:t>
                      </a:r>
                      <a:r>
                        <a:rPr lang="en-US" altLang="ru-RU" sz="1600" dirty="0">
                          <a:sym typeface="+mn-ea"/>
                        </a:rPr>
                        <a:t>.</a:t>
                      </a:r>
                      <a:r>
                        <a:rPr lang="ru-RU" altLang="en-US" sz="1600" dirty="0">
                          <a:sym typeface="+mn-ea"/>
                        </a:rPr>
                        <a:t> Данная ИИ модель позволяет делать это качественно и быстро для поставленной задачи.</a:t>
                      </a:r>
                      <a:endParaRPr lang="en-US" altLang="ru-RU" sz="1600" dirty="0"/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en-US" altLang="en-US" sz="1600" dirty="0">
                          <a:sym typeface="+mn-ea"/>
                        </a:rPr>
                        <a:t>Полученный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эффект</a:t>
                      </a:r>
                      <a:r>
                        <a:rPr lang="en-US" altLang="ru-RU" sz="1600" dirty="0">
                          <a:sym typeface="+mn-ea"/>
                        </a:rPr>
                        <a:t>: </a:t>
                      </a:r>
                      <a:r>
                        <a:rPr lang="en-US" altLang="en-US" sz="1600" dirty="0">
                          <a:sym typeface="+mn-ea"/>
                        </a:rPr>
                        <a:t>Повышение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стабильности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работы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приложения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за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счет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ревью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структуры</a:t>
                      </a:r>
                      <a:r>
                        <a:rPr lang="en-US" altLang="ru-RU" sz="1600" dirty="0">
                          <a:sym typeface="+mn-ea"/>
                        </a:rPr>
                        <a:t> </a:t>
                      </a:r>
                      <a:r>
                        <a:rPr lang="en-US" altLang="en-US" sz="1600" dirty="0">
                          <a:sym typeface="+mn-ea"/>
                        </a:rPr>
                        <a:t>данных</a:t>
                      </a:r>
                      <a:r>
                        <a:rPr lang="en-US" altLang="ru-RU" sz="1600" dirty="0">
                          <a:sym typeface="+mn-ea"/>
                        </a:rPr>
                        <a:t>, </a:t>
                      </a:r>
                      <a:r>
                        <a:rPr lang="ru-RU" altLang="en-US" sz="1600" dirty="0">
                          <a:sym typeface="+mn-ea"/>
                        </a:rPr>
                        <a:t>отсутсвие критических ошибок.</a:t>
                      </a: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720882">
                <a:tc>
                  <a:txBody>
                    <a:bodyPr/>
                    <a:lstStyle/>
                    <a:p>
                      <a:pPr lvl="0" algn="ctr" defTabSz="584200"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Proxima Nova Light"/>
                          <a:ea typeface="+mn-ea"/>
                          <a:cs typeface="+mn-cs"/>
                          <a:sym typeface="Proxima Nova Light"/>
                        </a:rPr>
                        <a:t>Кто в команде обладает уникальной технологической экспертизой, которая делает вашу технологию прорывной (если делает)?</a:t>
                      </a:r>
                      <a:endParaRPr lang="ru-RU" sz="1600" b="0" i="0" dirty="0">
                        <a:solidFill>
                          <a:srgbClr val="000000"/>
                        </a:solidFill>
                        <a:latin typeface="Proxima Nova Ligh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l" defTabSz="914400">
                        <a:defRPr sz="1800"/>
                      </a:pP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Разработчик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обладает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навыками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создания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мобильных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интерфейсов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на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Flutter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и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настройки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облачных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баз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данных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Firebase.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Экспертиза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заключается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в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проектировании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удобной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логики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взаимодействия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клиента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с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меню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и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реализации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системы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мгновенного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обновления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данных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в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реальном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 </a:t>
                      </a:r>
                      <a:r>
                        <a:rPr lang="en-US" altLang="en-US" sz="1600" dirty="0">
                          <a:latin typeface="+mj-lt"/>
                          <a:ea typeface="Proxima Nova Light"/>
                          <a:cs typeface="+mj-lt"/>
                        </a:rPr>
                        <a:t>времени</a:t>
                      </a:r>
                      <a:r>
                        <a:rPr lang="en-US" altLang="ru-RU" sz="1600" dirty="0">
                          <a:latin typeface="+mj-lt"/>
                          <a:ea typeface="Proxima Nova Light"/>
                          <a:cs typeface="+mj-lt"/>
                        </a:rPr>
                        <a:t>.</a:t>
                      </a:r>
                      <a:endParaRPr lang="en-US" altLang="ru-RU" sz="1600" dirty="0">
                        <a:latin typeface="+mj-lt"/>
                        <a:ea typeface="Proxima Nova Light"/>
                        <a:cs typeface="+mj-lt"/>
                      </a:endParaRPr>
                    </a:p>
                  </a:txBody>
                  <a:tcPr marL="50800" marR="50800" marT="50800" marB="50800" anchor="ctr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sz="4500" cap="all"/>
              <a:t>ВЕРХНЕУРОВНЕВАЯ АРХИТЕКТУРА</a:t>
            </a:r>
            <a:endParaRPr sz="4500" cap="all"/>
          </a:p>
        </p:txBody>
      </p:sp>
      <p:sp>
        <p:nvSpPr>
          <p:cNvPr id="195" name="Shape 195"/>
          <p:cNvSpPr>
            <a:spLocks noGrp="1"/>
          </p:cNvSpPr>
          <p:nvPr>
            <p:ph type="sldNum" sz="quarter" idx="2"/>
          </p:nvPr>
        </p:nvSpPr>
        <p:spPr>
          <a:xfrm>
            <a:off x="12499365" y="9264650"/>
            <a:ext cx="261570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680" y="2357755"/>
            <a:ext cx="4991100" cy="165735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130" y="6054090"/>
            <a:ext cx="3124200" cy="69532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75" y="5873115"/>
            <a:ext cx="2667000" cy="105727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075" y="2281555"/>
            <a:ext cx="2686050" cy="1733550"/>
          </a:xfrm>
          <a:prstGeom prst="rect">
            <a:avLst/>
          </a:prstGeom>
        </p:spPr>
      </p:pic>
      <p:cxnSp>
        <p:nvCxnSpPr>
          <p:cNvPr id="11" name="Прямая со стрелкой 10"/>
          <p:cNvCxnSpPr>
            <a:stCxn id="6" idx="0"/>
            <a:endCxn id="7" idx="2"/>
          </p:cNvCxnSpPr>
          <p:nvPr/>
        </p:nvCxnSpPr>
        <p:spPr>
          <a:xfrm flipV="1">
            <a:off x="8791575" y="4015105"/>
            <a:ext cx="9525" cy="185801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Прямая со стрелкой 11"/>
          <p:cNvCxnSpPr>
            <a:stCxn id="7" idx="1"/>
            <a:endCxn id="4" idx="3"/>
          </p:cNvCxnSpPr>
          <p:nvPr/>
        </p:nvCxnSpPr>
        <p:spPr>
          <a:xfrm flipH="1">
            <a:off x="6240780" y="3148330"/>
            <a:ext cx="1217295" cy="3810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Прямая со стрелкой 12"/>
          <p:cNvCxnSpPr>
            <a:stCxn id="5" idx="3"/>
            <a:endCxn id="6" idx="1"/>
          </p:cNvCxnSpPr>
          <p:nvPr/>
        </p:nvCxnSpPr>
        <p:spPr>
          <a:xfrm>
            <a:off x="5307330" y="6402070"/>
            <a:ext cx="2150745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Текстовое поле 13"/>
          <p:cNvSpPr txBox="1"/>
          <p:nvPr/>
        </p:nvSpPr>
        <p:spPr>
          <a:xfrm>
            <a:off x="1992630" y="4015105"/>
            <a:ext cx="33147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/>
              <a:t>Flutter, Dart</a:t>
            </a:r>
            <a:endParaRPr lang="en-US" altLang="zh-CN" sz="1600"/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7458075" y="6930390"/>
            <a:ext cx="26676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/>
              <a:t>Flutter, Dart</a:t>
            </a:r>
            <a:endParaRPr lang="en-US" altLang="zh-CN" sz="160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Бизнес-модель и инвестиции</a:t>
            </a:r>
            <a:endParaRPr sz="4500" cap="all" dirty="0"/>
          </a:p>
        </p:txBody>
      </p:sp>
      <p:sp>
        <p:nvSpPr>
          <p:cNvPr id="82" name="Shape 82"/>
          <p:cNvSpPr>
            <a:spLocks noGrp="1"/>
          </p:cNvSpPr>
          <p:nvPr>
            <p:ph type="sldNum" sz="quarter" idx="2"/>
          </p:nvPr>
        </p:nvSpPr>
        <p:spPr>
          <a:xfrm>
            <a:off x="12531559" y="9264650"/>
            <a:ext cx="197182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graphicFrame>
        <p:nvGraphicFramePr>
          <p:cNvPr id="83" name="Table 83"/>
          <p:cNvGraphicFramePr/>
          <p:nvPr/>
        </p:nvGraphicFramePr>
        <p:xfrm>
          <a:off x="669329" y="1727200"/>
          <a:ext cx="11666140" cy="6912245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316474"/>
                <a:gridCol w="8349666"/>
              </a:tblGrid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1600" cap="all" dirty="0" err="1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Категория</a:t>
                      </a:r>
                      <a:r>
                        <a:rPr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/</a:t>
                      </a:r>
                      <a:r>
                        <a:rPr sz="1600" cap="all" dirty="0" err="1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бизнес</a:t>
                      </a:r>
                      <a:r>
                        <a:rPr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 </a:t>
                      </a:r>
                      <a:r>
                        <a:rPr sz="1600" cap="all" dirty="0" err="1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модель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Сектор</a:t>
                      </a:r>
                      <a:r>
                        <a:rPr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: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Индивидуальное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решение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для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автоматизации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кафе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Клиенты</a:t>
                      </a:r>
                      <a:r>
                        <a:rPr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: </a:t>
                      </a:r>
                      <a:r>
                        <a:rPr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Малый</a:t>
                      </a:r>
                      <a:r>
                        <a:rPr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бизнес</a:t>
                      </a:r>
                      <a:endParaRPr lang="en-US" sz="1600" b="0" i="0" dirty="0" err="1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sz="1600" cap="all" dirty="0" err="1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География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Локальный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рынок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(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город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/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регион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).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Приложение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актуально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для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расширения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кафе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до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локальной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сети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из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нескольких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точек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единым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меню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Временные затраты на реализацию 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Проработка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идеи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: 1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неделя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Реализация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(MVP): 2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недели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интенсивной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разработки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Следующий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этап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: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Внедрение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системы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личных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кабинетов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онлайн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-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оплаты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системы купонов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Оценка себестоимости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Себестоимость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: 0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руб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(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использованы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бесплатные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тарифы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Flutter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Firebase).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Публикация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: ~12 000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руб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 (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единоразовый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взнос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Google Play Console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ежегодная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подписка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Apple Developer Program).</a:t>
                      </a:r>
                      <a:endParaRPr lang="en-US" alt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197485" marR="0" lvl="0" indent="-197485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Char char="•"/>
                        <a:defRPr sz="1800"/>
                      </a:pP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Статьи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расходов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: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Основной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ресурс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—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время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разработчика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затраты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на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регистрацию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аккаунтов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lvl="0" defTabSz="914400">
                        <a:defRPr sz="1800"/>
                      </a:pPr>
                      <a:r>
                        <a:rPr lang="ru-RU"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Продажи и продвижение </a:t>
                      </a: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197485" marR="0" lvl="0" indent="-197485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Char char="•"/>
                        <a:defRPr sz="1800"/>
                      </a:pP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Прямая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продажа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решения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владельцу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+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ежемесячная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плата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за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техническую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поддержку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облачное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хранение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данных</a:t>
                      </a:r>
                      <a:r>
                        <a:rPr lang="en-US" altLang="ru-RU" sz="1600" b="0" i="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.</a:t>
                      </a: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  <a:tr h="1069521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/>
                      </a:pPr>
                      <a:r>
                        <a:rPr lang="ru-RU" sz="1600" cap="all" dirty="0"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Требуемые инвестиции</a:t>
                      </a:r>
                      <a:endParaRPr lang="ru-RU"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  <a:p>
                      <a:pPr lvl="0" defTabSz="914400">
                        <a:defRPr sz="1800"/>
                      </a:pPr>
                      <a:endParaRPr sz="1600" cap="all" dirty="0">
                        <a:latin typeface="Proxima Nova Bold"/>
                        <a:ea typeface="Proxima Nova Bold"/>
                        <a:cs typeface="Proxima Nova Bold"/>
                        <a:sym typeface="Proxima Nova Bold"/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Требуемая сумма: 100тыс. рублей.</a:t>
                      </a:r>
                      <a:endParaRPr 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197485" lvl="0" indent="-197485" algn="l" defTabSz="914400">
                        <a:buSzPct val="75000"/>
                        <a:buChar char="•"/>
                        <a:defRPr sz="1800"/>
                      </a:pP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Основные статьи расходов: р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егистрация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аккаунтов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публикация</a:t>
                      </a:r>
                      <a:r>
                        <a:rPr lang="ru-RU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м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аркетинг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и</a:t>
                      </a:r>
                      <a:r>
                        <a:rPr lang="en-US" alt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 </a:t>
                      </a:r>
                      <a:r>
                        <a:rPr lang="en-US" altLang="en-US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внедрение</a:t>
                      </a:r>
                      <a:r>
                        <a:rPr lang="ru-RU" sz="16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Proxima Nova Light"/>
                        </a:rPr>
                        <a:t>, фонд развития.</a:t>
                      </a:r>
                      <a:endParaRPr lang="ru-RU" sz="1600" b="0" i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  <a:sym typeface="Proxima Nova Light"/>
                      </a:endParaRPr>
                    </a:p>
                    <a:p>
                      <a:pPr marL="0" lvl="0" indent="0" algn="l" defTabSz="914400">
                        <a:buSzPct val="75000"/>
                        <a:buNone/>
                        <a:defRPr sz="1800"/>
                      </a:pPr>
                      <a:endParaRPr sz="1600" dirty="0">
                        <a:latin typeface="Proxima Nova Light"/>
                        <a:ea typeface="Proxima Nova Light"/>
                        <a:cs typeface="Proxima Nova Light"/>
                      </a:endParaRPr>
                    </a:p>
                  </a:txBody>
                  <a:tcPr marL="50800" marR="50800" marT="50800" marB="50800" anchor="ctr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lang="ru-RU" sz="4500" cap="all" dirty="0"/>
              <a:t>Видео работы приложения </a:t>
            </a:r>
            <a:endParaRPr sz="4500" cap="all" dirty="0"/>
          </a:p>
        </p:txBody>
      </p:sp>
      <p:sp>
        <p:nvSpPr>
          <p:cNvPr id="165" name="Shape 165"/>
          <p:cNvSpPr>
            <a:spLocks noGrp="1"/>
          </p:cNvSpPr>
          <p:nvPr>
            <p:ph type="sldNum" sz="quarter" idx="2"/>
          </p:nvPr>
        </p:nvSpPr>
        <p:spPr>
          <a:xfrm>
            <a:off x="12502915" y="9264650"/>
            <a:ext cx="254470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sp>
        <p:nvSpPr>
          <p:cNvPr id="166" name="Shape 166"/>
          <p:cNvSpPr>
            <a:spLocks noGrp="1"/>
          </p:cNvSpPr>
          <p:nvPr>
            <p:ph type="body" idx="1"/>
          </p:nvPr>
        </p:nvSpPr>
        <p:spPr>
          <a:xfrm>
            <a:off x="952500" y="1506934"/>
            <a:ext cx="11099800" cy="7171532"/>
          </a:xfrm>
          <a:prstGeom prst="rect">
            <a:avLst/>
          </a:prstGeom>
        </p:spPr>
        <p:txBody>
          <a:bodyPr anchor="t"/>
          <a:lstStyle/>
          <a:p>
            <a:pPr lvl="0">
              <a:defRPr sz="1800"/>
            </a:pPr>
            <a:r>
              <a:rPr lang="ru-RU" sz="2800" dirty="0">
                <a:solidFill>
                  <a:srgbClr val="000000"/>
                </a:solidFill>
                <a:latin typeface="+mj-lt"/>
                <a:cs typeface="+mj-lt"/>
              </a:rPr>
              <a:t>Ссылка на видео-демонстрацию приложения: </a:t>
            </a:r>
            <a:r>
              <a:rPr lang="en-US" altLang="ru-RU" sz="2800" dirty="0">
                <a:latin typeface="+mj-lt"/>
                <a:cs typeface="+mj-lt"/>
              </a:rPr>
              <a:t>https://disk.yandex.ru/i/-QsL8VQccmigVw</a:t>
            </a:r>
            <a:endParaRPr lang="en-US" altLang="ru-RU" sz="2800" dirty="0">
              <a:latin typeface="+mj-lt"/>
              <a:cs typeface="+mj-lt"/>
            </a:endParaRPr>
          </a:p>
        </p:txBody>
      </p:sp>
      <p:sp>
        <p:nvSpPr>
          <p:cNvPr id="167" name="Shape 167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  <p:sp>
        <p:nvSpPr>
          <p:cNvPr id="168" name="Shape 16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>
            <a:spLocks noGrp="1"/>
          </p:cNvSpPr>
          <p:nvPr>
            <p:ph type="sldNum" sz="quarter" idx="2"/>
          </p:nvPr>
        </p:nvSpPr>
        <p:spPr>
          <a:xfrm>
            <a:off x="12483185" y="9264650"/>
            <a:ext cx="293930" cy="3048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300"/>
            </a:fld>
            <a:endParaRPr sz="1300"/>
          </a:p>
        </p:txBody>
      </p:sp>
      <p:sp>
        <p:nvSpPr>
          <p:cNvPr id="297" name="Shape 29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cap="none"/>
            </a:pPr>
            <a:r>
              <a:rPr sz="4500" cap="all" dirty="0"/>
              <a:t>КОНТАКТЫ</a:t>
            </a:r>
            <a:r>
              <a:rPr lang="ru-RU" sz="4500" cap="all" dirty="0"/>
              <a:t> капитана </a:t>
            </a:r>
            <a:endParaRPr sz="4500" cap="all" dirty="0"/>
          </a:p>
        </p:txBody>
      </p:sp>
      <p:sp>
        <p:nvSpPr>
          <p:cNvPr id="298" name="Shape 298"/>
          <p:cNvSpPr/>
          <p:nvPr/>
        </p:nvSpPr>
        <p:spPr>
          <a:xfrm flipV="1">
            <a:off x="156966" y="8743950"/>
            <a:ext cx="12690867" cy="1"/>
          </a:xfrm>
          <a:prstGeom prst="line">
            <a:avLst/>
          </a:prstGeom>
          <a:ln>
            <a:solidFill>
              <a:srgbClr val="53585F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2400"/>
            </a:pPr>
          </a:p>
        </p:txBody>
      </p:sp>
      <p:sp>
        <p:nvSpPr>
          <p:cNvPr id="299" name="Shape 299"/>
          <p:cNvSpPr>
            <a:spLocks noGrp="1"/>
          </p:cNvSpPr>
          <p:nvPr>
            <p:ph type="body" idx="1"/>
          </p:nvPr>
        </p:nvSpPr>
        <p:spPr>
          <a:xfrm>
            <a:off x="952500" y="1468635"/>
            <a:ext cx="11099800" cy="7171533"/>
          </a:xfrm>
          <a:prstGeom prst="rect">
            <a:avLst/>
          </a:prstGeom>
        </p:spPr>
        <p:txBody>
          <a:bodyPr/>
          <a:lstStyle/>
          <a:p>
            <a:pPr lvl="0" algn="ctr">
              <a:defRPr sz="1800"/>
            </a:pPr>
            <a:r>
              <a:rPr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ИМЯ: </a:t>
            </a:r>
            <a:r>
              <a:rPr lang="ru-RU" sz="2800" dirty="0"/>
              <a:t>Насиба</a:t>
            </a:r>
            <a:endParaRPr sz="2800" dirty="0"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lvl="0" algn="ctr">
              <a:defRPr sz="1800"/>
            </a:pPr>
            <a:r>
              <a:rPr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E-MAIL: </a:t>
            </a:r>
            <a:r>
              <a:rPr lang="en-US" sz="2800" dirty="0"/>
              <a:t>nasibaochildieva414@gmail.com</a:t>
            </a:r>
            <a:endParaRPr sz="2800" dirty="0"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lvl="0" algn="ctr">
              <a:defRPr sz="1800"/>
            </a:pPr>
            <a:r>
              <a:rPr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ТЕЛЕФОН: </a:t>
            </a:r>
            <a:r>
              <a:rPr sz="2800" dirty="0"/>
              <a:t>[+7-</a:t>
            </a:r>
            <a:r>
              <a:rPr lang="en-US" sz="2800" dirty="0"/>
              <a:t>981-827</a:t>
            </a:r>
            <a:r>
              <a:rPr sz="2800" dirty="0"/>
              <a:t>-</a:t>
            </a:r>
            <a:r>
              <a:rPr lang="ru-RU" sz="2800" dirty="0"/>
              <a:t>607</a:t>
            </a:r>
            <a:r>
              <a:rPr lang="en-US" sz="2800" dirty="0"/>
              <a:t>3</a:t>
            </a:r>
            <a:r>
              <a:rPr sz="2800" dirty="0"/>
              <a:t>]</a:t>
            </a:r>
            <a:endParaRPr sz="2800" dirty="0"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lvl="0" algn="ctr">
              <a:defRPr sz="1800"/>
            </a:pPr>
            <a:r>
              <a:rPr lang="en-US"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TG</a:t>
            </a:r>
            <a:r>
              <a:rPr sz="2800" dirty="0"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sz="2800" dirty="0"/>
              <a:t>[</a:t>
            </a:r>
            <a:r>
              <a:rPr lang="en-US" altLang="ru-RU" sz="2800" dirty="0"/>
              <a:t>https://t.me/CherryTea</a:t>
            </a:r>
            <a:r>
              <a:rPr sz="2800" dirty="0"/>
              <a:t>]</a:t>
            </a:r>
            <a:endParaRPr sz="2800" dirty="0"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300" name="Shape 300"/>
          <p:cNvSpPr/>
          <p:nvPr/>
        </p:nvSpPr>
        <p:spPr>
          <a:xfrm>
            <a:off x="298094" y="8847732"/>
            <a:ext cx="11099802" cy="215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l">
              <a:defRPr sz="1400">
                <a:latin typeface="Proxima Nova Light Italic"/>
                <a:ea typeface="Proxima Nova Light Italic"/>
                <a:cs typeface="Proxima Nova Light Italic"/>
                <a:sym typeface="Proxima Nova Light Italic"/>
              </a:defRPr>
            </a:lvl1pPr>
          </a:lstStyle>
          <a:p>
            <a:pPr lvl="0">
              <a:defRPr sz="1800"/>
            </a:pPr>
            <a:endParaRPr sz="1400" dirty="0"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7925</Words>
  <Application>WPS Presentation</Application>
  <PresentationFormat>Произвольный</PresentationFormat>
  <Paragraphs>188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Helvetica Light</vt:lpstr>
      <vt:lpstr>Proxima Nova Light</vt:lpstr>
      <vt:lpstr>Segoe Print</vt:lpstr>
      <vt:lpstr>Proxima Nova Bold</vt:lpstr>
      <vt:lpstr>Proxima Nova Regular</vt:lpstr>
      <vt:lpstr>Helvetica</vt:lpstr>
      <vt:lpstr>Helvetica Neue</vt:lpstr>
      <vt:lpstr>Proxima Nova Light Italic</vt:lpstr>
      <vt:lpstr>Calibri</vt:lpstr>
      <vt:lpstr>Microsoft YaHei</vt:lpstr>
      <vt:lpstr>Arial Unicode MS</vt:lpstr>
      <vt:lpstr>Helvetica Light</vt:lpstr>
      <vt:lpstr>White</vt:lpstr>
      <vt:lpstr>Название ПРОЕКТА  Название команды</vt:lpstr>
      <vt:lpstr>Команда </vt:lpstr>
      <vt:lpstr>Краткое Описание проекта</vt:lpstr>
      <vt:lpstr>ПРОБЛЕМА / АЛЬТЕРНАТИВНЫЕ РЕШЕНИЯ</vt:lpstr>
      <vt:lpstr>КЛИЕНТЫ и СЕГМЕНТЫ</vt:lpstr>
      <vt:lpstr>Технологии и инструменты </vt:lpstr>
      <vt:lpstr>ВЕРХНЕУРОВНЕВАЯ АРХИТЕКТУРА</vt:lpstr>
      <vt:lpstr>Бизнес-модель и инвестиции</vt:lpstr>
      <vt:lpstr>Видео работы приложения </vt:lpstr>
      <vt:lpstr>КОНТАКТЫ капитана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Tsarev Denis</dc:creator>
  <cp:lastModifiedBy>WPS_1735296119</cp:lastModifiedBy>
  <cp:revision>21</cp:revision>
  <dcterms:created xsi:type="dcterms:W3CDTF">2026-03-20T20:13:25Z</dcterms:created>
  <dcterms:modified xsi:type="dcterms:W3CDTF">2026-03-20T23:10:51Z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A1B522AD40A9441FB8FB6EBD92D20338_12</vt:lpwstr>
  </property>
  <property fmtid="{D5CDD505-2E9C-101B-9397-08002B2CF9AE}" pid="3" name="KSOProductBuildVer">
    <vt:lpwstr>1049-12.2.0.23196</vt:lpwstr>
  </property>
</Properties>
</file>